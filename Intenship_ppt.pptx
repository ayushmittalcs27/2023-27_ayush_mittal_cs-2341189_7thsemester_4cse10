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7825A-FDF8-443A-9701-5543081DDF40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3727F-C67B-4DF3-B300-24621FCBC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960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315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6200" y="695325"/>
            <a:ext cx="4114800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96200" y="4267200"/>
            <a:ext cx="41148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39100" y="2085975"/>
            <a:ext cx="1238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66750"/>
            <a:ext cx="1625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2137469"/>
            <a:ext cx="64808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C498D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AICTE – EDUSKILLS VIRTUAL INTERNSHIP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2470844"/>
            <a:ext cx="6480810" cy="201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15295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Siemens Data Science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0" i="0" u="none" strike="noStrike" cap="none" dirty="0">
                <a:solidFill>
                  <a:srgbClr val="15295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Master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4720381"/>
            <a:ext cx="6172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An 8-Week Professional Internship Presentation Report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5705326"/>
            <a:ext cx="6172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785D6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INTERNSHIP DURATION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5943451"/>
            <a:ext cx="6172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April 2026 – June 2026 </a:t>
            </a:r>
            <a:r>
              <a:rPr lang="en-US" sz="165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(8 Weeks)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039100" y="1038225"/>
            <a:ext cx="360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STUDENT CREDENTIALS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039100" y="1409700"/>
            <a:ext cx="34290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AYUSH MITTAL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8039100" y="4610100"/>
            <a:ext cx="360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HOST ORGANIZATION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039100" y="4981575"/>
            <a:ext cx="3429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EduSkills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Foundation &amp; Siemens</a:t>
            </a:r>
            <a:endParaRPr dirty="0"/>
          </a:p>
        </p:txBody>
      </p:sp>
      <p:sp>
        <p:nvSpPr>
          <p:cNvPr id="99" name="Google Shape;99;p13"/>
          <p:cNvSpPr txBox="1"/>
          <p:nvPr/>
        </p:nvSpPr>
        <p:spPr>
          <a:xfrm>
            <a:off x="8039100" y="56292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Supported by AICTE National Internship Portal</a:t>
            </a:r>
            <a:endParaRPr dirty="0"/>
          </a:p>
        </p:txBody>
      </p:sp>
      <p:sp>
        <p:nvSpPr>
          <p:cNvPr id="100" name="Google Shape;100;p13"/>
          <p:cNvSpPr txBox="1"/>
          <p:nvPr/>
        </p:nvSpPr>
        <p:spPr>
          <a:xfrm>
            <a:off x="2387500" y="804862"/>
            <a:ext cx="248031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5295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IILM UNIVERSITY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2387500" y="1128712"/>
            <a:ext cx="23622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GREATER NOIDA, UTTAR PRADESH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039100" y="2590800"/>
            <a:ext cx="3429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Enrollment / Roll No.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8039100" y="2790825"/>
            <a:ext cx="3600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CS-23411189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8039100" y="3209925"/>
            <a:ext cx="3429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Program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039100" y="3409950"/>
            <a:ext cx="3600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B.Tech CSE (Cyber Security)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7337"/>
            <a:ext cx="5286375" cy="461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57337"/>
            <a:ext cx="5286375" cy="4619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1985962"/>
            <a:ext cx="47505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9999"/>
                </a:solidFill>
                <a:latin typeface="Montserrat SemiBold"/>
              </a:rPr>
              <a:t>Candidate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452687"/>
            <a:ext cx="45243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15125" y="1985962"/>
            <a:ext cx="475059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9999"/>
                </a:solidFill>
                <a:latin typeface="Montserrat SemiBold"/>
              </a:rPr>
              <a:t>Internship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5125" y="2452687"/>
            <a:ext cx="45243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8250" y="27098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Student Name: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Ayush Mittal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2051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Program: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B.Tech CSE (Cyber Security)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37004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Semester: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Semester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41957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Enrollment / Roll No: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CS-23411189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4691062"/>
            <a:ext cx="4238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Institution: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IILM University, Greater Noida, Uttar Pradesh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2709862"/>
            <a:ext cx="4238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Program Name: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AICTE - EduSkills Virtual 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75" y="35099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Domain: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Siemens Data Science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875" y="40052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Duration: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April 2026 - June 2026 (8 Weeks)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0875" y="4500562"/>
            <a:ext cx="4238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Host Organizations: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EduSkills Foundation &amp; Siemens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875" y="5300662"/>
            <a:ext cx="42386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Supported By: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AICTE National Internship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Program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Overview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709862"/>
            <a:ext cx="1143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205162"/>
            <a:ext cx="1143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700462"/>
            <a:ext cx="1143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195762"/>
            <a:ext cx="1143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691062"/>
            <a:ext cx="1143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709862"/>
            <a:ext cx="1143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509962"/>
            <a:ext cx="1143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005262"/>
            <a:ext cx="11430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500562"/>
            <a:ext cx="11430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5300662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2587"/>
            <a:ext cx="3429000" cy="4429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652587"/>
            <a:ext cx="3429000" cy="442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652587"/>
            <a:ext cx="3429000" cy="4429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2043112"/>
            <a:ext cx="952500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5946" y="3233737"/>
            <a:ext cx="86010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2B49"/>
                </a:solidFill>
                <a:latin typeface="Montserrat SemiBold"/>
              </a:rPr>
              <a:t>AICTE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00462"/>
            <a:ext cx="28384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A5568"/>
                </a:solidFill>
                <a:latin typeface="Roboto"/>
              </a:rPr>
              <a:t>The statutory body of the Ministry of Education, responsible for technical education development and the parent body of the National Internship Portal.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2043112"/>
            <a:ext cx="952500" cy="952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5813" y="3233737"/>
            <a:ext cx="2980372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2B49"/>
                </a:solidFill>
                <a:latin typeface="Montserrat SemiBold"/>
              </a:rPr>
              <a:t>EduSkills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402431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A5568"/>
                </a:solidFill>
                <a:latin typeface="Roboto"/>
              </a:rPr>
              <a:t>An ISO 9001:2015 certified organization partnering with industry and academia to deliver skill-based virtual internship programs across India.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0" y="2043112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95923" y="3233737"/>
            <a:ext cx="122015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2B49"/>
                </a:solidFill>
                <a:latin typeface="Montserrat SemiBold"/>
              </a:rPr>
              <a:t>Siemens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370046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A5568"/>
                </a:solidFill>
                <a:latin typeface="Roboto"/>
              </a:rPr>
              <a:t>The industry partner sponsoring the Data Science Master domain, providing the cutting-edge RapidMiner AI Hub platform and core curriculum.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7875" y="2281237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5962" y="2281237"/>
            <a:ext cx="600075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9300" y="2281237"/>
            <a:ext cx="53340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Organization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Problem Statement &amp;</a:t>
            </a:r>
            <a:r>
              <a:t>
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Objectives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28850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09999"/>
                </a:solidFill>
                <a:latin typeface="Montserrat SemiBold"/>
              </a:rPr>
              <a:t>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6003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A5568"/>
                </a:solidFill>
                <a:latin typeface="Roboto"/>
              </a:rPr>
              <a:t>Modern organizations generate vast data volumes but face a critical shortage of professionals who can translate this raw information into actionable, predictive insights using advanced analytical methodologies.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57675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09999"/>
                </a:solidFill>
                <a:latin typeface="Montserrat SemiBold"/>
              </a:rPr>
              <a:t>CORE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29150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A5568"/>
                </a:solidFill>
                <a:latin typeface="Roboto"/>
              </a:rPr>
              <a:t>To identify business problems suitable for AI/ML, build highly accurate predictive models, deploy them into production environments, and manage the complete data science workflow lifecycle.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769864"/>
            <a:ext cx="5381625" cy="2106810"/>
          </a:xfrm>
          <a:prstGeom prst="roundRect">
            <a:avLst>
              <a:gd name="adj" fmla="val 3616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33500" y="2007989"/>
            <a:ext cx="4333875" cy="163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1. Data Sources &amp; Access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Utilizing enterprise databases and cloud repositories as raw data input. Securely loading external data into the RapidMiner AI Hub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769864"/>
            <a:ext cx="38100" cy="21068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8875" y="1769864"/>
            <a:ext cx="5381625" cy="2106810"/>
          </a:xfrm>
          <a:prstGeom prst="roundRect">
            <a:avLst>
              <a:gd name="adj" fmla="val 3616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875" y="2007989"/>
            <a:ext cx="4333875" cy="163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2. Transformation &amp; Feature Eng.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Handling missing values, calculating newly derived business attributes, and preparing/engineering relevant attributes for model building.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8875" y="1769864"/>
            <a:ext cx="38100" cy="21068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71500" y="4162425"/>
            <a:ext cx="5381625" cy="1802010"/>
          </a:xfrm>
          <a:prstGeom prst="roundRect">
            <a:avLst>
              <a:gd name="adj" fmla="val 4228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3500" y="4400550"/>
            <a:ext cx="4333875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3. Model Building &amp; Validation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Applying advanced regression, classification, and clustering algorithms. Evaluating model performance using strict cross-validation metrics.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162425"/>
            <a:ext cx="38100" cy="18020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38875" y="4162425"/>
            <a:ext cx="5381625" cy="1802010"/>
          </a:xfrm>
          <a:prstGeom prst="roundRect">
            <a:avLst>
              <a:gd name="adj" fmla="val 4228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875" y="4400550"/>
            <a:ext cx="4333875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4. Deployment &amp; Administration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Publishing finalized ML models as web services with active monitoring, and managing platform roles/enterprise ops on RapidMiner AI Hub.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8875" y="4162425"/>
            <a:ext cx="38100" cy="18020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2675632"/>
            <a:ext cx="2476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675632"/>
            <a:ext cx="285750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915792"/>
            <a:ext cx="2857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915792"/>
            <a:ext cx="285750" cy="2952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System Architecture &amp;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-213121"/>
            <a:ext cx="5286375" cy="3810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111621"/>
            <a:ext cx="5286375" cy="1382018"/>
          </a:xfrm>
          <a:prstGeom prst="roundRect">
            <a:avLst>
              <a:gd name="adj" fmla="val 4464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7275" y="167880"/>
            <a:ext cx="4429125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RapidMiner AI Hub &amp; Studio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The core enterprise environment utilized for comprehensive data preparation, model deployment, and platform administration.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609599" y="200025"/>
            <a:ext cx="45719" cy="1293614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1500" y="1874639"/>
            <a:ext cx="5286375" cy="1706760"/>
          </a:xfrm>
          <a:prstGeom prst="roundRect">
            <a:avLst>
              <a:gd name="adj" fmla="val 4464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8250" y="2065139"/>
            <a:ext cx="4429125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Machine Learning Algorithms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Extensive application of statistical techniques, focusing specifically on regression, classification, and clustering operations.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874639"/>
            <a:ext cx="38100" cy="170676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3962399"/>
            <a:ext cx="5324475" cy="2478285"/>
          </a:xfrm>
          <a:prstGeom prst="roundRect">
            <a:avLst>
              <a:gd name="adj" fmla="val 4464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8250" y="4152900"/>
            <a:ext cx="4429125" cy="132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Data Visualization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Leveraging advanced dashboarding tools to interpret analytical results, feature importance, and overall model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499" y="3962400"/>
            <a:ext cx="45719" cy="122307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4375" y="5185470"/>
            <a:ext cx="5286375" cy="1382018"/>
          </a:xfrm>
          <a:prstGeom prst="roundRect">
            <a:avLst>
              <a:gd name="adj" fmla="val 4464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33500" y="5454734"/>
            <a:ext cx="4695825" cy="8944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Cloud Virtual Labs &amp; LMS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Utilizing the AICTE-</a:t>
            </a:r>
            <a:r>
              <a:rPr sz="1500" b="0" i="0" u="none" dirty="0" err="1">
                <a:solidFill>
                  <a:srgbClr val="4A5568"/>
                </a:solidFill>
                <a:latin typeface="Roboto"/>
              </a:rPr>
              <a:t>EduSkills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portal for structured modules and a cloud-based sandbox for hands-on ML practice.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52400"/>
            <a:ext cx="5286375" cy="3810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92621"/>
            <a:ext cx="2476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580382"/>
            <a:ext cx="361950" cy="2952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4668142"/>
            <a:ext cx="323850" cy="2952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63" y="5759517"/>
            <a:ext cx="361950" cy="2297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-1089421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Technologies &amp;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Toolchain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-22621"/>
            <a:ext cx="1143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065139"/>
            <a:ext cx="1143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152900"/>
            <a:ext cx="1143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6240660"/>
            <a:ext cx="114300" cy="20002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53B211C-F29E-5658-8ACD-B4614278EA1B}"/>
              </a:ext>
            </a:extLst>
          </p:cNvPr>
          <p:cNvSpPr/>
          <p:nvPr/>
        </p:nvSpPr>
        <p:spPr>
          <a:xfrm>
            <a:off x="578168" y="5290437"/>
            <a:ext cx="45719" cy="122307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38650"/>
            <a:ext cx="2541240" cy="21428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777603"/>
            <a:ext cx="2541240" cy="18990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438650"/>
            <a:ext cx="2541240" cy="21428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259" y="1533822"/>
            <a:ext cx="2541240" cy="21428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038600"/>
            <a:ext cx="11049000" cy="38100"/>
          </a:xfrm>
          <a:prstGeom prst="rect">
            <a:avLst/>
          </a:prstGeom>
          <a:solidFill>
            <a:srgbClr val="00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7993" y="4657725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81575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Applications &amp;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272980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Identifying and evaluating critical business problems suitable for machine learning solutions.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913" y="1996678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7919" y="2320528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Data Engineering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919" y="2611933"/>
            <a:ext cx="21602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Gaining foundational skills to efficiently load, transform, and cleanse raw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833" y="4657725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3839" y="4981575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Machine Learning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3839" y="5272980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Building core, foundational machine learning models including basic regression and classification.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5753" y="1752897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9759" y="2076747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Data Prep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9759" y="2368153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Mastering advanced data transformations and workflow automation techniques for production.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27820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3740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99659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35579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Curriculum Timeline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(Weeks 1 to 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38650"/>
            <a:ext cx="2541240" cy="21428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1533822"/>
            <a:ext cx="2541240" cy="21428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438650"/>
            <a:ext cx="2541240" cy="21428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1777603"/>
            <a:ext cx="2541240" cy="18990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038600"/>
            <a:ext cx="11049000" cy="38100"/>
          </a:xfrm>
          <a:prstGeom prst="rect">
            <a:avLst/>
          </a:prstGeom>
          <a:solidFill>
            <a:srgbClr val="00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7993" y="4657725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81575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Machine Learning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272980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Implementing highly advanced techniques, hyperparameter tuning, and optimizing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913" y="1752897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7919" y="2076747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Use Cases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7919" y="2368153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Transitioning to production by deploying, publishing, and monitoring ML models as web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9833" y="4657725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3839" y="4981575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Platform Admin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3839" y="5272980"/>
            <a:ext cx="216024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Configuring, securing, and actively managing the RapidMiner AI Hub environment for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5753" y="1996678"/>
            <a:ext cx="22682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2B49"/>
                </a:solidFill>
                <a:latin typeface="Montserrat SemiBold"/>
              </a:rPr>
              <a:t>Week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9759" y="2320528"/>
            <a:ext cx="216024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1" i="0" u="none">
                <a:solidFill>
                  <a:srgbClr val="009999"/>
                </a:solidFill>
                <a:latin typeface="Roboto"/>
              </a:rPr>
              <a:t>Enterprise Ops &amp;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9759" y="2611933"/>
            <a:ext cx="216024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Roboto"/>
              </a:rPr>
              <a:t>Executing enterprise operations, final project documentation, and the Final Assessment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27820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63740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99659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35579" y="3943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Curriculum Timeline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(Weeks 5 to 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196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825103"/>
            <a:ext cx="9525000" cy="1306710"/>
          </a:xfrm>
          <a:prstGeom prst="roundRect">
            <a:avLst>
              <a:gd name="adj" fmla="val 5831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0250" y="967978"/>
            <a:ext cx="8572500" cy="102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Business Alignment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Achieved the ability to confidently identify and map complex business problems to suitable AI/ML-based solutions.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3500" y="825103"/>
            <a:ext cx="38100" cy="13067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33500" y="2417564"/>
            <a:ext cx="9525000" cy="1306710"/>
          </a:xfrm>
          <a:prstGeom prst="roundRect">
            <a:avLst>
              <a:gd name="adj" fmla="val 5831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00250" y="2560439"/>
            <a:ext cx="8572500" cy="102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Robust Data Engineering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Demonstrated practical proficiency in data access, complex transformations, pipelines, and mathematical calculations.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3500" y="2417564"/>
            <a:ext cx="38100" cy="13067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33500" y="4010025"/>
            <a:ext cx="9525000" cy="1306710"/>
          </a:xfrm>
          <a:prstGeom prst="roundRect">
            <a:avLst>
              <a:gd name="adj" fmla="val 5831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0250" y="4152900"/>
            <a:ext cx="8572500" cy="102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2B49"/>
                </a:solidFill>
                <a:latin typeface="Roboto"/>
              </a:rPr>
              <a:t>End-to-End ML Development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Developed hands-on skills encompassing the entire lifecycle of building, validating, and deploying machine learning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4010025"/>
            <a:ext cx="38100" cy="130671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323975" y="5412270"/>
            <a:ext cx="9525000" cy="1166229"/>
          </a:xfrm>
          <a:prstGeom prst="roundRect">
            <a:avLst>
              <a:gd name="adj" fmla="val 5831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95475" y="5557539"/>
            <a:ext cx="8572500" cy="1020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2B49"/>
                </a:solidFill>
                <a:latin typeface="Roboto"/>
              </a:rPr>
              <a:t>Enterprise Administration &amp; Academic Excellence</a:t>
            </a:r>
            <a:r>
              <a:rPr sz="1500" b="0" i="0" u="none" dirty="0">
                <a:solidFill>
                  <a:srgbClr val="4A5568"/>
                </a:solidFill>
                <a:latin typeface="Roboto"/>
              </a:rPr>
              <a:t> Acquired a strong working knowledge of configuring platform operations on the RapidMiner AI Hub and successfully completed the rigorous program with an overall Grade 'O' (Outstanding).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3499" y="5602485"/>
            <a:ext cx="45719" cy="976014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1330821"/>
            <a:ext cx="2857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2923282"/>
            <a:ext cx="285750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4515742"/>
            <a:ext cx="2857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5960565"/>
            <a:ext cx="285750" cy="2952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-51196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Key Outcomes &amp;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Demonstrated Skills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2" y="2200126"/>
            <a:ext cx="333375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45965"/>
            <a:ext cx="5286375" cy="38041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4125" y="168399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02B49"/>
                </a:solidFill>
                <a:latin typeface="Montserrat SemiBold"/>
              </a:rPr>
              <a:t>Official Credential Details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012" y="2276326"/>
            <a:ext cx="3181350" cy="3181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57975" y="2531715"/>
            <a:ext cx="46767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Internship Title:</a:t>
            </a:r>
            <a:r>
              <a:t>
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Siemens Data Science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7975" y="3236565"/>
            <a:ext cx="46767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Academic Patronage:</a:t>
            </a:r>
            <a:r>
              <a:t>
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AICTE National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7975" y="3941415"/>
            <a:ext cx="46767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Issuing Organization:</a:t>
            </a:r>
            <a:r>
              <a:t>
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EduSkills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7975" y="4646265"/>
            <a:ext cx="46767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A5568"/>
                </a:solidFill>
                <a:latin typeface="Roboto"/>
              </a:rPr>
              <a:t>Certificate ID / Offer Ref:</a:t>
            </a:r>
            <a:r>
              <a:t>
</a:t>
            </a:r>
            <a:r>
              <a:rPr sz="1500" b="0" i="0" u="none">
                <a:solidFill>
                  <a:srgbClr val="4A5568"/>
                </a:solidFill>
                <a:latin typeface="Roboto"/>
              </a:rPr>
              <a:t> C16Y2026M081417437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7975" y="5398740"/>
            <a:ext cx="46767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009999"/>
                </a:solidFill>
                <a:latin typeface="Roboto"/>
              </a:rPr>
              <a:t>GRADE 'O' (Outstanding)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2B49"/>
                </a:solidFill>
                <a:latin typeface="Montserrat"/>
              </a:rPr>
              <a:t>Certification &amp; </a:t>
            </a:r>
            <a:r>
              <a:rPr sz="3150" b="1" i="0" u="none">
                <a:solidFill>
                  <a:srgbClr val="009999"/>
                </a:solidFill>
                <a:latin typeface="Montserrat"/>
              </a:rPr>
              <a:t>Official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783210"/>
            <a:ext cx="952500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64865"/>
            <a:ext cx="11049000" cy="4728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1826865"/>
            <a:ext cx="1000125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 u="none">
                <a:solidFill>
                  <a:srgbClr val="FFFFFF"/>
                </a:solidFill>
                <a:latin typeface="Montserrat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941290"/>
            <a:ext cx="9525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A0AEC0"/>
                </a:solidFill>
                <a:latin typeface="Roboto"/>
              </a:rPr>
              <a:t>Siemens Data Science Master - Internship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4078485"/>
            <a:ext cx="11620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FFFFFF"/>
                </a:solidFill>
                <a:latin typeface="Roboto"/>
              </a:rPr>
              <a:t>Ayush Mittal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8C557-CDFE-CEBB-A4AF-DAB908B34B68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effectLst/>
              </a:rPr>
              <a:t>  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805</Words>
  <Application>Microsoft Office PowerPoint</Application>
  <PresentationFormat>Widescreen</PresentationFormat>
  <Paragraphs>93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Arial</vt:lpstr>
      <vt:lpstr>Calibri</vt:lpstr>
      <vt:lpstr>Inter</vt:lpstr>
      <vt:lpstr>Inter ExtraBold</vt:lpstr>
      <vt:lpstr>Inter Medium</vt:lpstr>
      <vt:lpstr>Inter SemiBold</vt:lpstr>
      <vt:lpstr>Montserrat</vt:lpstr>
      <vt:lpstr>Montserrat SemiBold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mittal</dc:creator>
  <cp:keywords/>
  <dc:description>generated using python-pptx</dc:description>
  <cp:lastModifiedBy>ayush mittal</cp:lastModifiedBy>
  <cp:revision>2</cp:revision>
  <dcterms:created xsi:type="dcterms:W3CDTF">2013-01-27T09:14:16Z</dcterms:created>
  <dcterms:modified xsi:type="dcterms:W3CDTF">2026-09-10T16:05:20Z</dcterms:modified>
  <cp:category/>
</cp:coreProperties>
</file>